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32918400"/>
  <p:notesSz cx="9144000" cy="68580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488"/>
  </p:normalViewPr>
  <p:slideViewPr>
    <p:cSldViewPr>
      <p:cViewPr varScale="1">
        <p:scale>
          <a:sx n="20" d="100"/>
          <a:sy n="20" d="100"/>
        </p:scale>
        <p:origin x="1848" y="32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riannacastro/Downloads/DNP%20project%20/All%20surveys%20together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ARTIC Scale: Pre vs. Post Training Attitudes (1-8 Scale)</a:t>
            </a:r>
          </a:p>
        </c:rich>
      </c:tx>
      <c:layout>
        <c:manualLayout>
          <c:xMode val="edge"/>
          <c:yMode val="edge"/>
          <c:x val="0.1262567973202244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'DNP Poster (2)'!$C$79</c:f>
              <c:strCache>
                <c:ptCount val="1"/>
                <c:pt idx="0">
                  <c:v>Pre-Training (Mean)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'DNP Poster (2)'!$B$80:$B$93</c:f>
              <c:strCache>
                <c:ptCount val="14"/>
                <c:pt idx="0">
                  <c:v>Underlying Causes of Problem Behavior</c:v>
                </c:pt>
                <c:pt idx="1">
                  <c:v>Responses to Problem Behavior</c:v>
                </c:pt>
                <c:pt idx="2">
                  <c:v>On-the-Job Behavior (Peer Support)</c:v>
                </c:pt>
                <c:pt idx="3">
                  <c:v>Self-Efficacy at Work</c:v>
                </c:pt>
                <c:pt idx="4">
                  <c:v>Reactions to Work (Coping)</c:v>
                </c:pt>
                <c:pt idx="5">
                  <c:v>TIC Approach Effectiveness</c:v>
                </c:pt>
                <c:pt idx="6">
                  <c:v>Organizational Support</c:v>
                </c:pt>
                <c:pt idx="7">
                  <c:v>System-Wide TIC Commitment</c:v>
                </c:pt>
                <c:pt idx="8">
                  <c:v>Managing TIC Responsibilities</c:v>
                </c:pt>
                <c:pt idx="9">
                  <c:v>Administrative Support</c:v>
                </c:pt>
                <c:pt idx="10">
                  <c:v>Long-Term TIC Commitment</c:v>
                </c:pt>
                <c:pt idx="11">
                  <c:v>Ability to Implement TIC</c:v>
                </c:pt>
                <c:pt idx="12">
                  <c:v>Support for TIC Implementation</c:v>
                </c:pt>
                <c:pt idx="13">
                  <c:v>Overall TIC Readiness</c:v>
                </c:pt>
              </c:strCache>
            </c:strRef>
          </c:cat>
          <c:val>
            <c:numRef>
              <c:f>'DNP Poster (2)'!$C$80:$C$93</c:f>
              <c:numCache>
                <c:formatCode>General</c:formatCode>
                <c:ptCount val="14"/>
                <c:pt idx="0">
                  <c:v>3.85</c:v>
                </c:pt>
                <c:pt idx="1">
                  <c:v>3.92</c:v>
                </c:pt>
                <c:pt idx="2">
                  <c:v>4.38</c:v>
                </c:pt>
                <c:pt idx="3">
                  <c:v>4.54</c:v>
                </c:pt>
                <c:pt idx="4">
                  <c:v>4.2300000000000004</c:v>
                </c:pt>
                <c:pt idx="5">
                  <c:v>4.62</c:v>
                </c:pt>
                <c:pt idx="6">
                  <c:v>4.1500000000000004</c:v>
                </c:pt>
                <c:pt idx="7">
                  <c:v>4.92</c:v>
                </c:pt>
                <c:pt idx="8">
                  <c:v>4.08</c:v>
                </c:pt>
                <c:pt idx="9">
                  <c:v>4</c:v>
                </c:pt>
                <c:pt idx="10">
                  <c:v>4.46</c:v>
                </c:pt>
                <c:pt idx="11">
                  <c:v>4.3099999999999996</c:v>
                </c:pt>
                <c:pt idx="12">
                  <c:v>4.54</c:v>
                </c:pt>
                <c:pt idx="13">
                  <c:v>4.33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E0-C840-9EEB-B95EFB9B70D8}"/>
            </c:ext>
          </c:extLst>
        </c:ser>
        <c:ser>
          <c:idx val="1"/>
          <c:order val="1"/>
          <c:tx>
            <c:strRef>
              <c:f>'DNP Poster (2)'!$D$79</c:f>
              <c:strCache>
                <c:ptCount val="1"/>
                <c:pt idx="0">
                  <c:v>Post-Training (Mean)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'DNP Poster (2)'!$B$80:$B$93</c:f>
              <c:strCache>
                <c:ptCount val="14"/>
                <c:pt idx="0">
                  <c:v>Underlying Causes of Problem Behavior</c:v>
                </c:pt>
                <c:pt idx="1">
                  <c:v>Responses to Problem Behavior</c:v>
                </c:pt>
                <c:pt idx="2">
                  <c:v>On-the-Job Behavior (Peer Support)</c:v>
                </c:pt>
                <c:pt idx="3">
                  <c:v>Self-Efficacy at Work</c:v>
                </c:pt>
                <c:pt idx="4">
                  <c:v>Reactions to Work (Coping)</c:v>
                </c:pt>
                <c:pt idx="5">
                  <c:v>TIC Approach Effectiveness</c:v>
                </c:pt>
                <c:pt idx="6">
                  <c:v>Organizational Support</c:v>
                </c:pt>
                <c:pt idx="7">
                  <c:v>System-Wide TIC Commitment</c:v>
                </c:pt>
                <c:pt idx="8">
                  <c:v>Managing TIC Responsibilities</c:v>
                </c:pt>
                <c:pt idx="9">
                  <c:v>Administrative Support</c:v>
                </c:pt>
                <c:pt idx="10">
                  <c:v>Long-Term TIC Commitment</c:v>
                </c:pt>
                <c:pt idx="11">
                  <c:v>Ability to Implement TIC</c:v>
                </c:pt>
                <c:pt idx="12">
                  <c:v>Support for TIC Implementation</c:v>
                </c:pt>
                <c:pt idx="13">
                  <c:v>Overall TIC Readiness</c:v>
                </c:pt>
              </c:strCache>
            </c:strRef>
          </c:cat>
          <c:val>
            <c:numRef>
              <c:f>'DNP Poster (2)'!$D$80:$D$93</c:f>
              <c:numCache>
                <c:formatCode>General</c:formatCode>
                <c:ptCount val="14"/>
                <c:pt idx="0">
                  <c:v>3.57</c:v>
                </c:pt>
                <c:pt idx="1">
                  <c:v>3.71</c:v>
                </c:pt>
                <c:pt idx="2">
                  <c:v>4.1399999999999997</c:v>
                </c:pt>
                <c:pt idx="3">
                  <c:v>3.86</c:v>
                </c:pt>
                <c:pt idx="4">
                  <c:v>4.71</c:v>
                </c:pt>
                <c:pt idx="5">
                  <c:v>5.14</c:v>
                </c:pt>
                <c:pt idx="6">
                  <c:v>4</c:v>
                </c:pt>
                <c:pt idx="7">
                  <c:v>4.57</c:v>
                </c:pt>
                <c:pt idx="8">
                  <c:v>4.43</c:v>
                </c:pt>
                <c:pt idx="9">
                  <c:v>3.71</c:v>
                </c:pt>
                <c:pt idx="10">
                  <c:v>4.71</c:v>
                </c:pt>
                <c:pt idx="11">
                  <c:v>5.14</c:v>
                </c:pt>
                <c:pt idx="12">
                  <c:v>4</c:v>
                </c:pt>
                <c:pt idx="13">
                  <c:v>4.24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E0-C840-9EEB-B95EFB9B70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41050256"/>
        <c:axId val="1641469696"/>
      </c:barChart>
      <c:catAx>
        <c:axId val="16410502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469696"/>
        <c:crosses val="autoZero"/>
        <c:auto val="1"/>
        <c:lblAlgn val="ctr"/>
        <c:lblOffset val="100"/>
        <c:noMultiLvlLbl val="0"/>
      </c:catAx>
      <c:valAx>
        <c:axId val="1641469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050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F5AC4-28DE-420A-8567-357A1C076817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18AEE-1625-49E1-B8D1-5A7E5E0097A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https://www.researchgate.net/profile/Viviene-Temple/publication/6442648/figure/fig1/AS:305250461339655@1449788789333/The-Precede-Proceed-model-for-health-promotion-planning-Green-Krueter-2005-p-137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https://www.researchgate.net/publication/395266446/figure/fig1/AS:11431281620216046@1757005599858/Campinha-Bacotes-process-of-cultural-competence-model-2002-2011.tif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6"/>
          <p:cNvSpPr txBox="1">
            <a:spLocks noChangeArrowheads="1"/>
          </p:cNvSpPr>
          <p:nvPr/>
        </p:nvSpPr>
        <p:spPr bwMode="auto">
          <a:xfrm>
            <a:off x="0" y="-22358"/>
            <a:ext cx="43891200" cy="3908972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 lIns="61170" tIns="30584" rIns="61170" bIns="30584">
            <a:spAutoFit/>
          </a:bodyPr>
          <a:lstStyle/>
          <a:p>
            <a:pPr algn="ctr" defTabSz="612775"/>
            <a:endParaRPr lang="en-US" sz="5000" b="1" dirty="0">
              <a:solidFill>
                <a:schemeClr val="bg1"/>
              </a:solidFill>
              <a:effectLst/>
              <a:latin typeface="Arial" charset="0"/>
            </a:endParaRPr>
          </a:p>
          <a:p>
            <a:pPr indent="17463" algn="ctr" defTabSz="612775"/>
            <a:r>
              <a:rPr lang="en-US" sz="5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Trauma-Informed Care In Refugee Health: A Six-Week Training for Afghan Refugee Care Through Community Health Worker Integration</a:t>
            </a:r>
            <a:endParaRPr lang="en-US" sz="54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12775"/>
            <a:r>
              <a:rPr lang="en-US" sz="5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Arianna Castro, MSN, RN, DNP-FNP Student </a:t>
            </a:r>
          </a:p>
          <a:p>
            <a:pPr algn="ctr" defTabSz="612775"/>
            <a:r>
              <a:rPr lang="en-US" sz="42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COMMITTEE: Dr. Caroline Sutter DNP, APRN, FNP-BC, PMHNP-C</a:t>
            </a:r>
            <a:endParaRPr lang="en-US" sz="5000" b="1" dirty="0"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0" y="3904543"/>
            <a:ext cx="43891200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 Box 162"/>
          <p:cNvSpPr txBox="1">
            <a:spLocks noChangeArrowheads="1"/>
          </p:cNvSpPr>
          <p:nvPr/>
        </p:nvSpPr>
        <p:spPr bwMode="auto">
          <a:xfrm>
            <a:off x="873297" y="4184879"/>
            <a:ext cx="13053542" cy="1569660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 - Evidence 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163"/>
          <p:cNvSpPr txBox="1">
            <a:spLocks noChangeArrowheads="1"/>
          </p:cNvSpPr>
          <p:nvPr/>
        </p:nvSpPr>
        <p:spPr bwMode="auto">
          <a:xfrm>
            <a:off x="873297" y="9384066"/>
            <a:ext cx="12997453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PURPOSE, GOALS, and/or AIMS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164"/>
          <p:cNvSpPr txBox="1">
            <a:spLocks noChangeArrowheads="1"/>
          </p:cNvSpPr>
          <p:nvPr/>
        </p:nvSpPr>
        <p:spPr bwMode="auto">
          <a:xfrm>
            <a:off x="14754215" y="4156435"/>
            <a:ext cx="14382770" cy="824946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65"/>
          <p:cNvSpPr txBox="1">
            <a:spLocks noChangeArrowheads="1"/>
          </p:cNvSpPr>
          <p:nvPr/>
        </p:nvSpPr>
        <p:spPr bwMode="auto">
          <a:xfrm>
            <a:off x="14754215" y="20472935"/>
            <a:ext cx="28710545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OUTCOMES &amp; FINDINGS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67"/>
          <p:cNvSpPr txBox="1">
            <a:spLocks noChangeArrowheads="1"/>
          </p:cNvSpPr>
          <p:nvPr/>
        </p:nvSpPr>
        <p:spPr bwMode="auto">
          <a:xfrm>
            <a:off x="30695012" y="17859478"/>
            <a:ext cx="11933047" cy="833438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147"/>
          <p:cNvSpPr txBox="1">
            <a:spLocks noChangeArrowheads="1"/>
          </p:cNvSpPr>
          <p:nvPr/>
        </p:nvSpPr>
        <p:spPr bwMode="auto">
          <a:xfrm>
            <a:off x="873297" y="4947409"/>
            <a:ext cx="13033928" cy="3896451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457200" marR="163195" lvl="0" indent="-457200">
              <a:buFont typeface="Wingdings" pitchFamily="2" charset="2"/>
              <a:buChar char="Ø"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Afghan refugees who resettle in Virginia </a:t>
            </a:r>
            <a:r>
              <a:rPr lang="en-US" sz="24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often experience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significant trauma across the pre-migration, migration, and post-migration journey. </a:t>
            </a:r>
          </a:p>
          <a:p>
            <a:pPr marL="457200" marR="163195" lvl="0" indent="-457200">
              <a:buFont typeface="Wingdings" pitchFamily="2" charset="2"/>
              <a:buChar char="Ø"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 is a growing body of evidence that shows traumatic events can increase an individual’s risk of long-term physical and behavioral health issues. The Philadelphia Urban ACEs study has linked trauma with lifelong health problems such as heart disease, liver disease, lung disease, and mental health conditions.</a:t>
            </a:r>
          </a:p>
          <a:p>
            <a:pPr marL="457200" marR="163195" lvl="0" indent="-457200">
              <a:buFont typeface="Wingdings" pitchFamily="2" charset="2"/>
              <a:buChar char="Ø"/>
            </a:pPr>
            <a:r>
              <a:rPr lang="en-US" sz="2400" kern="0" dirty="0">
                <a:latin typeface="Times New Roman" panose="02020603050405020304" pitchFamily="18" charset="0"/>
              </a:rPr>
              <a:t>Partnering clinics within Virginia serve this population but lack a standardized trauma-informed care framework.</a:t>
            </a:r>
          </a:p>
          <a:p>
            <a:pPr marL="457200" marR="163195" lvl="0" indent="-457200">
              <a:buFont typeface="Wingdings" pitchFamily="2" charset="2"/>
              <a:buChar char="Ø"/>
            </a:pPr>
            <a:r>
              <a:rPr lang="en-US" sz="2400" kern="0" dirty="0">
                <a:latin typeface="Times New Roman" panose="02020603050405020304" pitchFamily="18" charset="0"/>
              </a:rPr>
              <a:t>Evidence demonstrates that community health workers improve communication, trust, patient safety, and care coordination.</a:t>
            </a:r>
          </a:p>
        </p:txBody>
      </p:sp>
      <p:sp>
        <p:nvSpPr>
          <p:cNvPr id="14" name="Text Box 161"/>
          <p:cNvSpPr txBox="1">
            <a:spLocks noChangeArrowheads="1"/>
          </p:cNvSpPr>
          <p:nvPr/>
        </p:nvSpPr>
        <p:spPr bwMode="auto">
          <a:xfrm>
            <a:off x="874915" y="10338906"/>
            <a:ext cx="12929797" cy="460433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342900" indent="-342900" defTabSz="612775">
              <a:buFont typeface="Wingdings" pitchFamily="2" charset="2"/>
              <a:buChar char="Ø"/>
            </a:pP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 Aim: develop, implement, and evaluate a CHW-integrated trauma-informed care training module to improve culturally and linguistically responsive care for Afghan refugees in Virginia.</a:t>
            </a:r>
          </a:p>
          <a:p>
            <a:pPr marL="342900" indent="-342900" defTabSz="612775">
              <a:buFont typeface="Wingdings" pitchFamily="2" charset="2"/>
              <a:buChar char="Ø"/>
            </a:pP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 #1: Design a trauma-informed training curriculum that incorporates CHW expertise and addresses key refugee-care competencies.</a:t>
            </a:r>
          </a:p>
          <a:p>
            <a:pPr marL="342900" indent="-342900" defTabSz="612775">
              <a:buFont typeface="Wingdings" pitchFamily="2" charset="2"/>
              <a:buChar char="Ø"/>
            </a:pP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 #2: Improve providers’ knowledge, clinical skills, and confidence in delivering culturally and trauma-informed refugee care, through the CHW-integrated training module.</a:t>
            </a:r>
          </a:p>
          <a:p>
            <a:pPr marL="342900" indent="-342900" defTabSz="612775">
              <a:buFont typeface="Wingdings" pitchFamily="2" charset="2"/>
              <a:buChar char="Ø"/>
            </a:pPr>
            <a:r>
              <a:rPr lang="en-US" sz="26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Objectives: </a:t>
            </a:r>
          </a:p>
          <a:p>
            <a:pPr marL="2537460" lvl="1" indent="-342900" defTabSz="612775">
              <a:buFont typeface="Wingdings" pitchFamily="2" charset="2"/>
              <a:buChar char="Ø"/>
            </a:pPr>
            <a:r>
              <a:rPr lang="en-US" sz="2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6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repare Afghan CHWs to co-facilitate trainings</a:t>
            </a:r>
          </a:p>
          <a:p>
            <a:pPr marL="2537460" lvl="1" indent="-342900" defTabSz="612775">
              <a:buFont typeface="Wingdings" pitchFamily="2" charset="2"/>
              <a:buChar char="Ø"/>
            </a:pPr>
            <a:r>
              <a:rPr lang="en-US" sz="2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feedback to refine train</a:t>
            </a:r>
            <a:r>
              <a:rPr lang="en-US" sz="26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ings </a:t>
            </a:r>
          </a:p>
          <a:p>
            <a:pPr marL="2537460" lvl="1" indent="-342900" defTabSz="612775">
              <a:buFont typeface="Wingdings" pitchFamily="2" charset="2"/>
              <a:buChar char="Ø"/>
            </a:pPr>
            <a:r>
              <a:rPr lang="en-US" sz="2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 adoption across partner clinics 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Text Box 151"/>
          <p:cNvSpPr txBox="1">
            <a:spLocks noChangeArrowheads="1"/>
          </p:cNvSpPr>
          <p:nvPr/>
        </p:nvSpPr>
        <p:spPr bwMode="auto">
          <a:xfrm>
            <a:off x="14788630" y="11632915"/>
            <a:ext cx="14382770" cy="8389989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>
              <a:effectLst/>
            </a:endParaRPr>
          </a:p>
        </p:txBody>
      </p:sp>
      <p:sp>
        <p:nvSpPr>
          <p:cNvPr id="21" name="Text Box 147"/>
          <p:cNvSpPr txBox="1">
            <a:spLocks noChangeArrowheads="1"/>
          </p:cNvSpPr>
          <p:nvPr/>
        </p:nvSpPr>
        <p:spPr bwMode="auto">
          <a:xfrm>
            <a:off x="14745321" y="21411880"/>
            <a:ext cx="28719440" cy="10852202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388" lvl="1" defTabSz="61277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388" lvl="1" defTabSz="61277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388" lvl="1" defTabSz="61277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388" lvl="1" defTabSz="61277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388" lvl="1" defTabSz="61277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388" lvl="1" defTabSz="61277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388" lvl="1" defTabSz="61277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3588" lvl="1" indent="-457200" defTabSz="612775">
              <a:buFont typeface="Wingdings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Surveys: Formative Evaluation- Survey completion was monitored throughout implementation to assess participation in real time. Peaks in responses followed by reminders, presentations, QR code sharing, and in-person engagement.                                                                                               </a:t>
            </a:r>
          </a:p>
          <a:p>
            <a:pPr marL="763588" lvl="1" indent="-457200" defTabSz="612775">
              <a:buFont typeface="Wingdings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 Scale Pre vs. Post Training Attitudes: Summative Evaluation- Reflect improved readiness and confidence in trauma-informed care. Lower post-test scores related to organizational and administrative support, indicating ongoing barriers to full implementation and sustainability.</a:t>
            </a:r>
          </a:p>
          <a:p>
            <a:pPr marL="763588" lvl="1" indent="-457200" defTabSz="612775">
              <a:buFont typeface="Wingdings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Knowledge and Skills: All ten areas showed significant improvement after the training.</a:t>
            </a:r>
          </a:p>
        </p:txBody>
      </p:sp>
      <p:sp>
        <p:nvSpPr>
          <p:cNvPr id="24" name="Text Box 147"/>
          <p:cNvSpPr txBox="1">
            <a:spLocks noChangeArrowheads="1"/>
          </p:cNvSpPr>
          <p:nvPr/>
        </p:nvSpPr>
        <p:spPr bwMode="auto">
          <a:xfrm>
            <a:off x="30695012" y="18812946"/>
            <a:ext cx="11933047" cy="106490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Chair: Dr. Caroline Sutter, </a:t>
            </a:r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DNP, APRN, FNP-BC, PMHNP-C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Mason University School of Nursing</a:t>
            </a:r>
          </a:p>
        </p:txBody>
      </p:sp>
      <p:sp>
        <p:nvSpPr>
          <p:cNvPr id="22" name="Text Box 166">
            <a:extLst>
              <a:ext uri="{FF2B5EF4-FFF2-40B4-BE49-F238E27FC236}">
                <a16:creationId xmlns:a16="http://schemas.microsoft.com/office/drawing/2014/main" id="{DEC16832-A86D-3D4C-B72F-E5CCE7CF8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8419" y="9034113"/>
            <a:ext cx="11962031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Box 147">
            <a:extLst>
              <a:ext uri="{FF2B5EF4-FFF2-40B4-BE49-F238E27FC236}">
                <a16:creationId xmlns:a16="http://schemas.microsoft.com/office/drawing/2014/main" id="{B053AB35-644A-6148-B172-C2CC20A4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3869" y="5128560"/>
            <a:ext cx="11968678" cy="3219343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763588" lvl="1" indent="-457200" defTabSz="612775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culturally tailored training modules increased provider readiness, confidence, and recognition of trauma-related needs among the Afghan refugee population.</a:t>
            </a:r>
          </a:p>
          <a:p>
            <a:pPr marL="763588" lvl="1" indent="-457200" defTabSz="612775"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participant engagement and several ARTIC domains improved, post-ARTIC scores decreased, particularly in organizational and administrative support, suggesting that long-term success will require stronger leadership engagement and system-level infrastructure.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CBA2DE-0427-6440-B5E8-249EFD18F65A}"/>
              </a:ext>
            </a:extLst>
          </p:cNvPr>
          <p:cNvCxnSpPr>
            <a:cxnSpLocks/>
          </p:cNvCxnSpPr>
          <p:nvPr/>
        </p:nvCxnSpPr>
        <p:spPr bwMode="auto">
          <a:xfrm>
            <a:off x="729845" y="32343781"/>
            <a:ext cx="13284357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2E3293A-06B4-EA4B-AB45-981C76B35A01}"/>
              </a:ext>
            </a:extLst>
          </p:cNvPr>
          <p:cNvCxnSpPr>
            <a:cxnSpLocks/>
          </p:cNvCxnSpPr>
          <p:nvPr/>
        </p:nvCxnSpPr>
        <p:spPr bwMode="auto">
          <a:xfrm>
            <a:off x="738573" y="9144928"/>
            <a:ext cx="13147615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5DD501-4821-9745-8645-A1E59D7468EC}"/>
              </a:ext>
            </a:extLst>
          </p:cNvPr>
          <p:cNvCxnSpPr>
            <a:cxnSpLocks/>
          </p:cNvCxnSpPr>
          <p:nvPr/>
        </p:nvCxnSpPr>
        <p:spPr bwMode="auto">
          <a:xfrm>
            <a:off x="14754215" y="9889016"/>
            <a:ext cx="14382770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BCFAD3-056D-6C42-845B-B54BE44ABF32}"/>
              </a:ext>
            </a:extLst>
          </p:cNvPr>
          <p:cNvCxnSpPr>
            <a:cxnSpLocks/>
          </p:cNvCxnSpPr>
          <p:nvPr/>
        </p:nvCxnSpPr>
        <p:spPr bwMode="auto">
          <a:xfrm>
            <a:off x="14788630" y="32504143"/>
            <a:ext cx="28553405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A2AE2E-0AA8-9E45-A065-C0EEF70E298A}"/>
              </a:ext>
            </a:extLst>
          </p:cNvPr>
          <p:cNvCxnSpPr>
            <a:cxnSpLocks/>
          </p:cNvCxnSpPr>
          <p:nvPr/>
        </p:nvCxnSpPr>
        <p:spPr bwMode="auto">
          <a:xfrm>
            <a:off x="30683868" y="8686800"/>
            <a:ext cx="11968678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 Box 163">
            <a:extLst>
              <a:ext uri="{FF2B5EF4-FFF2-40B4-BE49-F238E27FC236}">
                <a16:creationId xmlns:a16="http://schemas.microsoft.com/office/drawing/2014/main" id="{4EABEFFA-6026-5549-83F1-926F72CF9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4216" y="10297939"/>
            <a:ext cx="14382770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STRATEGY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63">
            <a:extLst>
              <a:ext uri="{FF2B5EF4-FFF2-40B4-BE49-F238E27FC236}">
                <a16:creationId xmlns:a16="http://schemas.microsoft.com/office/drawing/2014/main" id="{BCFFCDB2-9D2E-A2F4-26A0-84F6127EB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344" y="23813457"/>
            <a:ext cx="13253858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61">
            <a:extLst>
              <a:ext uri="{FF2B5EF4-FFF2-40B4-BE49-F238E27FC236}">
                <a16:creationId xmlns:a16="http://schemas.microsoft.com/office/drawing/2014/main" id="{D048B4B2-52AC-0EC5-F39C-AF6C9C7B6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2762" y="51832050"/>
            <a:ext cx="13074336" cy="6235553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  <a:p>
            <a:pPr marL="342900" indent="-342900" defTabSz="612775">
              <a:buFont typeface="Wingdings" pitchFamily="2" charset="2"/>
              <a:buChar char="Ø"/>
            </a:pPr>
            <a:endParaRPr lang="en-US" sz="2800" dirty="0"/>
          </a:p>
        </p:txBody>
      </p:sp>
      <p:sp>
        <p:nvSpPr>
          <p:cNvPr id="15" name="Text Box 167">
            <a:extLst>
              <a:ext uri="{FF2B5EF4-FFF2-40B4-BE49-F238E27FC236}">
                <a16:creationId xmlns:a16="http://schemas.microsoft.com/office/drawing/2014/main" id="{2C6A8D54-D6DD-69C3-93F9-D9959A6A0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8419" y="12692040"/>
            <a:ext cx="12079830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4800" b="1" dirty="0">
                <a:solidFill>
                  <a:schemeClr val="bg1"/>
                </a:solidFill>
                <a:effectLst/>
              </a:rPr>
              <a:t> </a:t>
            </a:r>
            <a:endParaRPr lang="en-US" sz="36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7" name="Text Box 147">
            <a:extLst>
              <a:ext uri="{FF2B5EF4-FFF2-40B4-BE49-F238E27FC236}">
                <a16:creationId xmlns:a16="http://schemas.microsoft.com/office/drawing/2014/main" id="{481C3596-706E-4DE0-E486-2DFB655E4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8419" y="13662209"/>
            <a:ext cx="12020631" cy="365023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92D72A-3E93-9C5F-5EB0-53C168A1189D}"/>
              </a:ext>
            </a:extLst>
          </p:cNvPr>
          <p:cNvCxnSpPr>
            <a:cxnSpLocks/>
          </p:cNvCxnSpPr>
          <p:nvPr/>
        </p:nvCxnSpPr>
        <p:spPr bwMode="auto">
          <a:xfrm>
            <a:off x="873297" y="23415701"/>
            <a:ext cx="13140905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49CB4C-72A4-E552-2760-7AD107A792AE}"/>
              </a:ext>
            </a:extLst>
          </p:cNvPr>
          <p:cNvCxnSpPr>
            <a:cxnSpLocks/>
          </p:cNvCxnSpPr>
          <p:nvPr/>
        </p:nvCxnSpPr>
        <p:spPr bwMode="auto">
          <a:xfrm>
            <a:off x="760344" y="15097062"/>
            <a:ext cx="13111640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 Box 147">
            <a:extLst>
              <a:ext uri="{FF2B5EF4-FFF2-40B4-BE49-F238E27FC236}">
                <a16:creationId xmlns:a16="http://schemas.microsoft.com/office/drawing/2014/main" id="{2F4FAA01-09AD-4ACB-CFE9-25031EF88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97" y="16255744"/>
            <a:ext cx="13140905" cy="666644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population: Afghan Refugees resettling in Virginia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Facility: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Mason and Partners Refugee Clinic, participating in the Services to Afghan Survivors Impacted by Combat grant.</a:t>
            </a:r>
          </a:p>
          <a:p>
            <a:pPr marL="457200" marR="163195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Stakehol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ders:</a:t>
            </a:r>
          </a:p>
          <a:p>
            <a:pPr marL="457200" marR="163195" indent="-457200"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Box 163">
            <a:extLst>
              <a:ext uri="{FF2B5EF4-FFF2-40B4-BE49-F238E27FC236}">
                <a16:creationId xmlns:a16="http://schemas.microsoft.com/office/drawing/2014/main" id="{A2634F24-ED6F-5BCC-CAD9-FD5046BAF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534" y="15250856"/>
            <a:ext cx="13140905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SETTING &amp; 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Box 151">
            <a:extLst>
              <a:ext uri="{FF2B5EF4-FFF2-40B4-BE49-F238E27FC236}">
                <a16:creationId xmlns:a16="http://schemas.microsoft.com/office/drawing/2014/main" id="{01CE5BA8-AF76-D9F8-A20A-FB82734B8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4216" y="5074767"/>
            <a:ext cx="14382769" cy="4512004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Design: Quality Improvement design to implement and evaluate a 6-week trauma-informed training module focusing on culturally responsive care for Afghan refugees. Integrating community health workers into 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trainings to strengthen trust, communication, and trauma-responsive practices.</a:t>
            </a: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Guided by the Precede-Proceed model and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Campinha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-Bacote’s cultural competence framework. The training modules were delivered in person at the clinic site and via Google Classroom.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Subjects: Clinic staff, nurses, providers, case workers, students, volunteers, and pharmacists. 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Setting: Virginia partner clinics participating in the SASCI grant.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Tools/Measures: Pre/post ARTIC-10, bi-weekly reflections, and staff engagement.</a:t>
            </a:r>
          </a:p>
        </p:txBody>
      </p:sp>
      <p:sp>
        <p:nvSpPr>
          <p:cNvPr id="51" name="Text Box 163">
            <a:extLst>
              <a:ext uri="{FF2B5EF4-FFF2-40B4-BE49-F238E27FC236}">
                <a16:creationId xmlns:a16="http://schemas.microsoft.com/office/drawing/2014/main" id="{2728A3E8-E5C4-B7BE-C8DF-0582005BC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5995" y="4163297"/>
            <a:ext cx="12052384" cy="830997"/>
          </a:xfrm>
          <a:prstGeom prst="rect">
            <a:avLst/>
          </a:prstGeom>
          <a:solidFill>
            <a:srgbClr val="1E6238"/>
          </a:solidFill>
          <a:ln w="9525">
            <a:solidFill>
              <a:srgbClr val="1E6238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ANALYSIS</a:t>
            </a:r>
            <a:endParaRPr lang="en-US" sz="36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151">
            <a:extLst>
              <a:ext uri="{FF2B5EF4-FFF2-40B4-BE49-F238E27FC236}">
                <a16:creationId xmlns:a16="http://schemas.microsoft.com/office/drawing/2014/main" id="{54554E75-FBCE-90EA-6490-C98D9EE9C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8419" y="9988579"/>
            <a:ext cx="11979960" cy="2357568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Direction: Longitudinal follow-up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assess sustained knowledge retention over 6-12 months.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patient outcomes directly linked to CHW TIC trainings.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training into the CHW workflow.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advocacy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TIC integration into refugee resettlement programs</a:t>
            </a: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4EEABB2-9031-ED6F-9280-238B7543A5CF}"/>
              </a:ext>
            </a:extLst>
          </p:cNvPr>
          <p:cNvCxnSpPr>
            <a:cxnSpLocks/>
          </p:cNvCxnSpPr>
          <p:nvPr/>
        </p:nvCxnSpPr>
        <p:spPr bwMode="auto">
          <a:xfrm>
            <a:off x="30683868" y="12532946"/>
            <a:ext cx="12121623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27090FE-B331-725B-0CF3-0CC0BE7EFC9E}"/>
              </a:ext>
            </a:extLst>
          </p:cNvPr>
          <p:cNvCxnSpPr>
            <a:cxnSpLocks/>
          </p:cNvCxnSpPr>
          <p:nvPr/>
        </p:nvCxnSpPr>
        <p:spPr bwMode="auto">
          <a:xfrm>
            <a:off x="14754215" y="20193000"/>
            <a:ext cx="14417185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3" name="Picture 22" descr="A close-up of a logo&#10;&#10;AI-generated content may be incorrect.">
            <a:extLst>
              <a:ext uri="{FF2B5EF4-FFF2-40B4-BE49-F238E27FC236}">
                <a16:creationId xmlns:a16="http://schemas.microsoft.com/office/drawing/2014/main" id="{257B6F73-EA2A-4735-2E0B-17EB8A1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88790"/>
            <a:ext cx="6629399" cy="2088261"/>
          </a:xfrm>
          <a:prstGeom prst="rect">
            <a:avLst/>
          </a:prstGeom>
        </p:spPr>
      </p:pic>
      <p:pic>
        <p:nvPicPr>
          <p:cNvPr id="11" name="Picture 10" descr="A close-up of a diagram&#10;&#10;Description automatically generated">
            <a:extLst>
              <a:ext uri="{FF2B5EF4-FFF2-40B4-BE49-F238E27FC236}">
                <a16:creationId xmlns:a16="http://schemas.microsoft.com/office/drawing/2014/main" id="{A5984831-1B96-8958-A461-05535D79C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75" y="17988142"/>
            <a:ext cx="8444450" cy="4900373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85571105-AB7C-E45F-35D5-A301D4F5F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91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67320FCF-6DAB-BB70-1280-7E888D74E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3891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1080C0D9-7FAD-A1C4-64DE-8D1615477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7017185"/>
            <a:ext cx="43891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E4884CD-C6F7-CA92-E455-4948DC6BE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5419" y="11898917"/>
            <a:ext cx="12954000" cy="7891693"/>
          </a:xfrm>
          <a:prstGeom prst="rect">
            <a:avLst/>
          </a:prstGeom>
        </p:spPr>
      </p:pic>
      <p:pic>
        <p:nvPicPr>
          <p:cNvPr id="44" name="Picture 43" descr="A graph with blue lines and red dots&#10;&#10;Description automatically generated">
            <a:extLst>
              <a:ext uri="{FF2B5EF4-FFF2-40B4-BE49-F238E27FC236}">
                <a16:creationId xmlns:a16="http://schemas.microsoft.com/office/drawing/2014/main" id="{C0C974FB-B804-81F5-AE06-FF791710F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2907" y="21682849"/>
            <a:ext cx="9336502" cy="6280043"/>
          </a:xfrm>
          <a:prstGeom prst="rect">
            <a:avLst/>
          </a:prstGeom>
        </p:spPr>
      </p:pic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8E3A02B1-0572-DE41-A16B-3A03AB027B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824885"/>
              </p:ext>
            </p:extLst>
          </p:nvPr>
        </p:nvGraphicFramePr>
        <p:xfrm>
          <a:off x="24721380" y="21532446"/>
          <a:ext cx="7620244" cy="7587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596D675-AEE9-90DB-2308-FB4595696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96961" y="13706024"/>
            <a:ext cx="3886200" cy="35874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3A0D602-141F-EF02-A74C-1FD4D4308D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29242" y="21823039"/>
            <a:ext cx="8560150" cy="7091497"/>
          </a:xfrm>
          <a:prstGeom prst="rect">
            <a:avLst/>
          </a:prstGeom>
        </p:spPr>
      </p:pic>
      <p:sp>
        <p:nvSpPr>
          <p:cNvPr id="34" name="Text Box 147">
            <a:extLst>
              <a:ext uri="{FF2B5EF4-FFF2-40B4-BE49-F238E27FC236}">
                <a16:creationId xmlns:a16="http://schemas.microsoft.com/office/drawing/2014/main" id="{9BFACB07-15FB-E2EF-1E77-AC522B642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344" y="24709699"/>
            <a:ext cx="13253858" cy="7097328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228600" tIns="100584" rIns="228600" bIns="100584">
            <a:spAutoFit/>
          </a:bodyPr>
          <a:lstStyle/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63195" indent="-4572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63195" algn="l">
              <a:spcBef>
                <a:spcPts val="0"/>
              </a:spcBef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D1BCCB-3307-7F5C-FB98-2A8BBBD84C07}"/>
              </a:ext>
            </a:extLst>
          </p:cNvPr>
          <p:cNvSpPr txBox="1"/>
          <p:nvPr/>
        </p:nvSpPr>
        <p:spPr>
          <a:xfrm rot="10800000" flipV="1">
            <a:off x="1539042" y="29389257"/>
            <a:ext cx="36844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Campinha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-Bacote’s Model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“ASKED” model framework,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0ABE8B-C2F3-787D-EE5F-33E24C7E6E24}"/>
              </a:ext>
            </a:extLst>
          </p:cNvPr>
          <p:cNvSpPr txBox="1"/>
          <p:nvPr/>
        </p:nvSpPr>
        <p:spPr>
          <a:xfrm>
            <a:off x="6673288" y="29173814"/>
            <a:ext cx="71314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PRECEDE-PROCEED model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ssessing the needs of healthcare providers,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ighlighting predisposing knowledge and attitudes that affect access to resources and policies that hinder the Afghan population.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1" descr="A diagram of cultural awareness&#10;&#10;Description automatically generated">
            <a:extLst>
              <a:ext uri="{FF2B5EF4-FFF2-40B4-BE49-F238E27FC236}">
                <a16:creationId xmlns:a16="http://schemas.microsoft.com/office/drawing/2014/main" id="{CD5061AA-8EA7-0AF6-04CB-9CB300052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34" y="25171555"/>
            <a:ext cx="4217364" cy="39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2" descr="A diagram of a life cycle&#10;&#10;Description automatically generated">
            <a:extLst>
              <a:ext uri="{FF2B5EF4-FFF2-40B4-BE49-F238E27FC236}">
                <a16:creationId xmlns:a16="http://schemas.microsoft.com/office/drawing/2014/main" id="{83C1DB69-1EC6-91F1-921B-740073B1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r:link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867" y="25671186"/>
            <a:ext cx="6820520" cy="282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FE0D23-A553-2F95-6894-9171959ABE84}"/>
              </a:ext>
            </a:extLst>
          </p:cNvPr>
          <p:cNvCxnSpPr>
            <a:cxnSpLocks/>
          </p:cNvCxnSpPr>
          <p:nvPr/>
        </p:nvCxnSpPr>
        <p:spPr bwMode="auto">
          <a:xfrm>
            <a:off x="30695012" y="20193000"/>
            <a:ext cx="12044428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3F8C384-483E-0447-879D-7C41706893D9}"/>
              </a:ext>
            </a:extLst>
          </p:cNvPr>
          <p:cNvCxnSpPr>
            <a:cxnSpLocks/>
          </p:cNvCxnSpPr>
          <p:nvPr/>
        </p:nvCxnSpPr>
        <p:spPr bwMode="auto">
          <a:xfrm>
            <a:off x="30708419" y="17653591"/>
            <a:ext cx="11979960" cy="0"/>
          </a:xfrm>
          <a:prstGeom prst="line">
            <a:avLst/>
          </a:prstGeom>
          <a:solidFill>
            <a:schemeClr val="accent1"/>
          </a:solidFill>
          <a:ln w="152400" cap="flat" cmpd="sng" algn="ctr">
            <a:solidFill>
              <a:srgbClr val="FFBF0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17150</TotalTime>
  <Words>677</Words>
  <Application>Microsoft Macintosh PowerPoint</Application>
  <PresentationFormat>Custom</PresentationFormat>
  <Paragraphs>128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Office Theme</vt:lpstr>
      <vt:lpstr>PowerPoint Presentation</vt:lpstr>
    </vt:vector>
  </TitlesOfParts>
  <Company>George Mason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cvalent5</dc:creator>
  <cp:lastModifiedBy>Arianna Lynd</cp:lastModifiedBy>
  <cp:revision>62</cp:revision>
  <dcterms:created xsi:type="dcterms:W3CDTF">2012-01-17T15:00:32Z</dcterms:created>
  <dcterms:modified xsi:type="dcterms:W3CDTF">2026-03-28T01:09:26Z</dcterms:modified>
</cp:coreProperties>
</file>